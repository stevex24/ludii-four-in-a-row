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THURSDAY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in Large Spaces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6464808"/>
            <a:ext cx="11155680" cy="0"/>
          </a:xfrm>
          <a:prstGeom prst="line">
            <a:avLst/>
          </a:prstGeom>
          <a:noFill/>
          <a:ln w="12700">
            <a:solidFill>
              <a:srgbClr val="3446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UCSC • Augmented Design Lab  |  October 15,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4358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Utility Function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02920" y="199339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natural-language game ideas to executable rules and playable experiments.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502920" y="3246120"/>
            <a:ext cx="7086600" cy="2194560"/>
          </a:xfrm>
          <a:prstGeom prst="roundRect">
            <a:avLst>
              <a:gd name="adj" fmla="val 5417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7530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OBJECTIVE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09651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→ validate → play → evaluate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22960" y="473659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independent Ludii example is working; the team pipeline is under development.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85048" y="2377440"/>
            <a:ext cx="653796" cy="653796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1624" y="2395728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42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442" dirty="0"/>
          </a:p>
        </p:txBody>
      </p:sp>
      <p:sp>
        <p:nvSpPr>
          <p:cNvPr id="15" name="Shape 13"/>
          <p:cNvSpPr/>
          <p:nvPr/>
        </p:nvSpPr>
        <p:spPr>
          <a:xfrm>
            <a:off x="9061704" y="2377440"/>
            <a:ext cx="653796" cy="653796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2395728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42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442" dirty="0"/>
          </a:p>
        </p:txBody>
      </p:sp>
      <p:sp>
        <p:nvSpPr>
          <p:cNvPr id="17" name="Shape 15"/>
          <p:cNvSpPr/>
          <p:nvPr/>
        </p:nvSpPr>
        <p:spPr>
          <a:xfrm>
            <a:off x="9738360" y="2377440"/>
            <a:ext cx="653796" cy="653796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15016" y="2377440"/>
            <a:ext cx="653796" cy="653796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85048" y="3054096"/>
            <a:ext cx="653796" cy="653796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61704" y="3054096"/>
            <a:ext cx="653796" cy="653796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3072384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42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442" dirty="0"/>
          </a:p>
        </p:txBody>
      </p:sp>
      <p:sp>
        <p:nvSpPr>
          <p:cNvPr id="22" name="Shape 20"/>
          <p:cNvSpPr/>
          <p:nvPr/>
        </p:nvSpPr>
        <p:spPr>
          <a:xfrm>
            <a:off x="9738360" y="3054096"/>
            <a:ext cx="653796" cy="653796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74936" y="3072384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42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442" dirty="0"/>
          </a:p>
        </p:txBody>
      </p:sp>
      <p:sp>
        <p:nvSpPr>
          <p:cNvPr id="24" name="Shape 22"/>
          <p:cNvSpPr/>
          <p:nvPr/>
        </p:nvSpPr>
        <p:spPr>
          <a:xfrm>
            <a:off x="10415016" y="3054096"/>
            <a:ext cx="653796" cy="653796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85048" y="3730752"/>
            <a:ext cx="653796" cy="653796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61704" y="3730752"/>
            <a:ext cx="653796" cy="653796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38360" y="3730752"/>
            <a:ext cx="653796" cy="653796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74936" y="3749040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42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442" dirty="0"/>
          </a:p>
        </p:txBody>
      </p:sp>
      <p:sp>
        <p:nvSpPr>
          <p:cNvPr id="29" name="Shape 27"/>
          <p:cNvSpPr/>
          <p:nvPr/>
        </p:nvSpPr>
        <p:spPr>
          <a:xfrm>
            <a:off x="10415016" y="3730752"/>
            <a:ext cx="653796" cy="653796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51592" y="3749040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42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442" dirty="0"/>
          </a:p>
        </p:txBody>
      </p:sp>
      <p:sp>
        <p:nvSpPr>
          <p:cNvPr id="31" name="Shape 29"/>
          <p:cNvSpPr/>
          <p:nvPr/>
        </p:nvSpPr>
        <p:spPr>
          <a:xfrm>
            <a:off x="8385048" y="4407408"/>
            <a:ext cx="653796" cy="653796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61704" y="4407408"/>
            <a:ext cx="653796" cy="653796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38360" y="4407408"/>
            <a:ext cx="653796" cy="653796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15016" y="4407408"/>
            <a:ext cx="653796" cy="653796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51592" y="4425696"/>
            <a:ext cx="603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42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4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LLM → Ludii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6464808"/>
            <a:ext cx="11155680" cy="0"/>
          </a:xfrm>
          <a:prstGeom prst="line">
            <a:avLst/>
          </a:prstGeom>
          <a:noFill/>
          <a:ln w="12700">
            <a:solidFill>
              <a:srgbClr val="3446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UCSC • Augmented Design Lab  |  October 15,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993392"/>
            <a:ext cx="2148840" cy="2240280"/>
          </a:xfrm>
          <a:prstGeom prst="roundRect">
            <a:avLst>
              <a:gd name="adj" fmla="val 5532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221992"/>
            <a:ext cx="429768" cy="356616"/>
          </a:xfrm>
          <a:prstGeom prst="roundRect">
            <a:avLst>
              <a:gd name="adj" fmla="val 33333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9514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28529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+ examples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952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 new game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15768" y="28346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916936" y="1993392"/>
            <a:ext cx="2148840" cy="2240280"/>
          </a:xfrm>
          <a:prstGeom prst="roundRect">
            <a:avLst>
              <a:gd name="adj" fmla="val 5532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81528" y="2221992"/>
            <a:ext cx="429768" cy="356616"/>
          </a:xfrm>
          <a:prstGeom prst="roundRect">
            <a:avLst>
              <a:gd name="adj" fmla="val 33333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91256" y="229514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81528" y="28529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+ critique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81528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revision 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38344" y="28346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39512" y="1993392"/>
            <a:ext cx="2148840" cy="2240280"/>
          </a:xfrm>
          <a:prstGeom prst="roundRect">
            <a:avLst>
              <a:gd name="adj" fmla="val 5532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04104" y="2221992"/>
            <a:ext cx="429768" cy="356616"/>
          </a:xfrm>
          <a:prstGeom prst="roundRect">
            <a:avLst>
              <a:gd name="adj" fmla="val 33333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229514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04104" y="28529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+ filter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04104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Syntax, legality, termination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60920" y="28346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62088" y="1993392"/>
            <a:ext cx="2148840" cy="2240280"/>
          </a:xfrm>
          <a:prstGeom prst="roundRect">
            <a:avLst>
              <a:gd name="adj" fmla="val 5532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2221992"/>
            <a:ext cx="429768" cy="356616"/>
          </a:xfrm>
          <a:prstGeom prst="roundRect">
            <a:avLst>
              <a:gd name="adj" fmla="val 33333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36408" y="229514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26680" y="28529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+ load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726680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Ludii runner / bridge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683496" y="2834640"/>
            <a:ext cx="256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884664" y="1993392"/>
            <a:ext cx="2148840" cy="2240280"/>
          </a:xfrm>
          <a:prstGeom prst="roundRect">
            <a:avLst>
              <a:gd name="adj" fmla="val 5532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49256" y="2221992"/>
            <a:ext cx="429768" cy="356616"/>
          </a:xfrm>
          <a:prstGeom prst="roundRect">
            <a:avLst>
              <a:gd name="adj" fmla="val 33333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58984" y="2295144"/>
            <a:ext cx="210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049256" y="2852928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 + evaluate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0049256" y="35661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matches and game metrics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4800600"/>
            <a:ext cx="10835640" cy="731520"/>
          </a:xfrm>
          <a:prstGeom prst="roundRect">
            <a:avLst>
              <a:gd name="adj" fmla="val 16250"/>
            </a:avLst>
          </a:prstGeom>
          <a:solidFill>
            <a:srgbClr val="26344A"/>
          </a:solidFill>
          <a:ln w="12700">
            <a:solidFill>
              <a:srgbClr val="2634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Pipeline proposed; independent game creation and AI-vs-AI play demonstrated.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Ludii game: Four-in-a-Row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6464808"/>
            <a:ext cx="11155680" cy="0"/>
          </a:xfrm>
          <a:prstGeom prst="line">
            <a:avLst/>
          </a:prstGeom>
          <a:noFill/>
          <a:ln w="12700">
            <a:solidFill>
              <a:srgbClr val="3446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UCSC • Augmented Design Lab  |  October 15,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1536192"/>
            <a:ext cx="809244" cy="80924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1554480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3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3003" dirty="0"/>
          </a:p>
        </p:txBody>
      </p:sp>
      <p:sp>
        <p:nvSpPr>
          <p:cNvPr id="9" name="Shape 7"/>
          <p:cNvSpPr/>
          <p:nvPr/>
        </p:nvSpPr>
        <p:spPr>
          <a:xfrm>
            <a:off x="1609344" y="1536192"/>
            <a:ext cx="809244" cy="80924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554480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3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3003" dirty="0"/>
          </a:p>
        </p:txBody>
      </p:sp>
      <p:sp>
        <p:nvSpPr>
          <p:cNvPr id="11" name="Shape 9"/>
          <p:cNvSpPr/>
          <p:nvPr/>
        </p:nvSpPr>
        <p:spPr>
          <a:xfrm>
            <a:off x="2441448" y="1536192"/>
            <a:ext cx="809244" cy="80924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78024" y="1554480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3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3003" dirty="0"/>
          </a:p>
        </p:txBody>
      </p:sp>
      <p:sp>
        <p:nvSpPr>
          <p:cNvPr id="13" name="Shape 11"/>
          <p:cNvSpPr/>
          <p:nvPr/>
        </p:nvSpPr>
        <p:spPr>
          <a:xfrm>
            <a:off x="3273552" y="1536192"/>
            <a:ext cx="809244" cy="80924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368296"/>
            <a:ext cx="809244" cy="80924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" y="2386584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3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3003" dirty="0"/>
          </a:p>
        </p:txBody>
      </p:sp>
      <p:sp>
        <p:nvSpPr>
          <p:cNvPr id="16" name="Shape 14"/>
          <p:cNvSpPr/>
          <p:nvPr/>
        </p:nvSpPr>
        <p:spPr>
          <a:xfrm>
            <a:off x="1609344" y="2368296"/>
            <a:ext cx="809244" cy="80924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386584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3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3003" dirty="0"/>
          </a:p>
        </p:txBody>
      </p:sp>
      <p:sp>
        <p:nvSpPr>
          <p:cNvPr id="18" name="Shape 16"/>
          <p:cNvSpPr/>
          <p:nvPr/>
        </p:nvSpPr>
        <p:spPr>
          <a:xfrm>
            <a:off x="2441448" y="2368296"/>
            <a:ext cx="809244" cy="80924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73552" y="2368296"/>
            <a:ext cx="809244" cy="80924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386584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3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3003" dirty="0"/>
          </a:p>
        </p:txBody>
      </p:sp>
      <p:sp>
        <p:nvSpPr>
          <p:cNvPr id="21" name="Shape 19"/>
          <p:cNvSpPr/>
          <p:nvPr/>
        </p:nvSpPr>
        <p:spPr>
          <a:xfrm>
            <a:off x="777240" y="3200400"/>
            <a:ext cx="809244" cy="80924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" y="3218688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3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3003" dirty="0"/>
          </a:p>
        </p:txBody>
      </p:sp>
      <p:sp>
        <p:nvSpPr>
          <p:cNvPr id="23" name="Shape 21"/>
          <p:cNvSpPr/>
          <p:nvPr/>
        </p:nvSpPr>
        <p:spPr>
          <a:xfrm>
            <a:off x="1609344" y="3200400"/>
            <a:ext cx="809244" cy="80924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41448" y="3200400"/>
            <a:ext cx="809244" cy="80924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78024" y="3218688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3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3003" dirty="0"/>
          </a:p>
        </p:txBody>
      </p:sp>
      <p:sp>
        <p:nvSpPr>
          <p:cNvPr id="26" name="Shape 24"/>
          <p:cNvSpPr/>
          <p:nvPr/>
        </p:nvSpPr>
        <p:spPr>
          <a:xfrm>
            <a:off x="3273552" y="3200400"/>
            <a:ext cx="809244" cy="80924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032504"/>
            <a:ext cx="809244" cy="80924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09344" y="4032504"/>
            <a:ext cx="809244" cy="80924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441448" y="4032504"/>
            <a:ext cx="809244" cy="80924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73552" y="4032504"/>
            <a:ext cx="809244" cy="80924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0128" y="4050792"/>
            <a:ext cx="758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3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3003" dirty="0"/>
          </a:p>
        </p:txBody>
      </p:sp>
      <p:sp>
        <p:nvSpPr>
          <p:cNvPr id="32" name="Shape 30"/>
          <p:cNvSpPr/>
          <p:nvPr/>
        </p:nvSpPr>
        <p:spPr>
          <a:xfrm>
            <a:off x="4754880" y="1527048"/>
            <a:ext cx="6656832" cy="4343400"/>
          </a:xfrm>
          <a:prstGeom prst="roundRect">
            <a:avLst>
              <a:gd name="adj" fmla="val 2737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1810512"/>
            <a:ext cx="5989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encoded in a compact .lud file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5084064" y="2377440"/>
            <a:ext cx="6035040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(game "Four-in-a-Row"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(players 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(equipment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(board (square 4))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(piece "Disc" P1)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(piece "Cross" P2) })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(rules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(play (move Add (to (sites Empty))))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(end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(if (is Line 4) (result Mover Win))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  (if (is Full) (result Mover Draw)) })))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7724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Compiled • legal moves tested • victory displayed • trial saved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DEMONSTRATION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can play the generated game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6464808"/>
            <a:ext cx="11155680" cy="0"/>
          </a:xfrm>
          <a:prstGeom prst="line">
            <a:avLst/>
          </a:prstGeom>
          <a:noFill/>
          <a:ln w="12700">
            <a:solidFill>
              <a:srgbClr val="3446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UCSC • Augmented Design Lab  |  October 15,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481328"/>
            <a:ext cx="6537960" cy="4352544"/>
          </a:xfrm>
          <a:prstGeom prst="roundRect">
            <a:avLst>
              <a:gd name="adj" fmla="val 2731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55648" y="1847088"/>
            <a:ext cx="763524" cy="76352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92224" y="1865376"/>
            <a:ext cx="71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38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838" dirty="0"/>
          </a:p>
        </p:txBody>
      </p:sp>
      <p:sp>
        <p:nvSpPr>
          <p:cNvPr id="10" name="Shape 8"/>
          <p:cNvSpPr/>
          <p:nvPr/>
        </p:nvSpPr>
        <p:spPr>
          <a:xfrm>
            <a:off x="2542032" y="1847088"/>
            <a:ext cx="763524" cy="76352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1865376"/>
            <a:ext cx="71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38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838" dirty="0"/>
          </a:p>
        </p:txBody>
      </p:sp>
      <p:sp>
        <p:nvSpPr>
          <p:cNvPr id="12" name="Shape 10"/>
          <p:cNvSpPr/>
          <p:nvPr/>
        </p:nvSpPr>
        <p:spPr>
          <a:xfrm>
            <a:off x="3328416" y="1847088"/>
            <a:ext cx="763524" cy="76352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865376"/>
            <a:ext cx="71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38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838" dirty="0"/>
          </a:p>
        </p:txBody>
      </p:sp>
      <p:sp>
        <p:nvSpPr>
          <p:cNvPr id="14" name="Shape 12"/>
          <p:cNvSpPr/>
          <p:nvPr/>
        </p:nvSpPr>
        <p:spPr>
          <a:xfrm>
            <a:off x="4114800" y="1847088"/>
            <a:ext cx="763524" cy="76352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55648" y="2633472"/>
            <a:ext cx="763524" cy="76352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2224" y="2651760"/>
            <a:ext cx="71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38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838" dirty="0"/>
          </a:p>
        </p:txBody>
      </p:sp>
      <p:sp>
        <p:nvSpPr>
          <p:cNvPr id="17" name="Shape 15"/>
          <p:cNvSpPr/>
          <p:nvPr/>
        </p:nvSpPr>
        <p:spPr>
          <a:xfrm>
            <a:off x="2542032" y="2633472"/>
            <a:ext cx="763524" cy="76352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2651760"/>
            <a:ext cx="71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38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838" dirty="0"/>
          </a:p>
        </p:txBody>
      </p:sp>
      <p:sp>
        <p:nvSpPr>
          <p:cNvPr id="19" name="Shape 17"/>
          <p:cNvSpPr/>
          <p:nvPr/>
        </p:nvSpPr>
        <p:spPr>
          <a:xfrm>
            <a:off x="3328416" y="2633472"/>
            <a:ext cx="763524" cy="76352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2651760"/>
            <a:ext cx="71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38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838" dirty="0"/>
          </a:p>
        </p:txBody>
      </p:sp>
      <p:sp>
        <p:nvSpPr>
          <p:cNvPr id="21" name="Shape 19"/>
          <p:cNvSpPr/>
          <p:nvPr/>
        </p:nvSpPr>
        <p:spPr>
          <a:xfrm>
            <a:off x="4114800" y="2633472"/>
            <a:ext cx="763524" cy="76352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55648" y="3419856"/>
            <a:ext cx="763524" cy="76352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42032" y="3419856"/>
            <a:ext cx="763524" cy="76352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78608" y="3438144"/>
            <a:ext cx="71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38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838" dirty="0"/>
          </a:p>
        </p:txBody>
      </p:sp>
      <p:sp>
        <p:nvSpPr>
          <p:cNvPr id="25" name="Shape 23"/>
          <p:cNvSpPr/>
          <p:nvPr/>
        </p:nvSpPr>
        <p:spPr>
          <a:xfrm>
            <a:off x="3328416" y="3419856"/>
            <a:ext cx="763524" cy="76352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438144"/>
            <a:ext cx="71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38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838" dirty="0"/>
          </a:p>
        </p:txBody>
      </p:sp>
      <p:sp>
        <p:nvSpPr>
          <p:cNvPr id="27" name="Shape 25"/>
          <p:cNvSpPr/>
          <p:nvPr/>
        </p:nvSpPr>
        <p:spPr>
          <a:xfrm>
            <a:off x="4114800" y="3419856"/>
            <a:ext cx="763524" cy="76352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55648" y="4206240"/>
            <a:ext cx="763524" cy="76352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42032" y="4206240"/>
            <a:ext cx="763524" cy="76352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28416" y="4206240"/>
            <a:ext cx="763524" cy="76352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0" y="4206240"/>
            <a:ext cx="763524" cy="76352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9792" y="1490472"/>
            <a:ext cx="4014216" cy="4352544"/>
          </a:xfrm>
          <a:prstGeom prst="roundRect">
            <a:avLst>
              <a:gd name="adj" fmla="val 2961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90688" y="1810512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workflow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790688" y="2450592"/>
            <a:ext cx="420624" cy="356616"/>
          </a:xfrm>
          <a:prstGeom prst="roundRect">
            <a:avLst>
              <a:gd name="adj" fmla="val 33333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0416" y="252374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39328" y="2505456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the .lud game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790688" y="3127248"/>
            <a:ext cx="420624" cy="356616"/>
          </a:xfrm>
          <a:prstGeom prst="roundRect">
            <a:avLst>
              <a:gd name="adj" fmla="val 33333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0416" y="320040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39328" y="31821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two AI players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790688" y="3803904"/>
            <a:ext cx="420624" cy="356616"/>
          </a:xfrm>
          <a:prstGeom prst="roundRect">
            <a:avLst>
              <a:gd name="adj" fmla="val 33333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0416" y="387705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39328" y="3858768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Restart → Play/Pause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790688" y="4480560"/>
            <a:ext cx="420624" cy="356616"/>
          </a:xfrm>
          <a:prstGeom prst="roundRect">
            <a:avLst>
              <a:gd name="adj" fmla="val 33333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0416" y="455371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339328" y="4535424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 result and save .trl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13232" y="6025896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working AI-vs-AI play, not high chess-playing strength.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SOLVABILITY ≠ INTERESTINGNESS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games, radically different complexity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6464808"/>
            <a:ext cx="11155680" cy="0"/>
          </a:xfrm>
          <a:prstGeom prst="line">
            <a:avLst/>
          </a:prstGeom>
          <a:noFill/>
          <a:ln w="12700">
            <a:solidFill>
              <a:srgbClr val="3446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UCSC • Augmented Design Lab  |  October 15,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435608"/>
            <a:ext cx="3182112" cy="4434840"/>
          </a:xfrm>
          <a:prstGeom prst="roundRect">
            <a:avLst>
              <a:gd name="adj" fmla="val 3736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6367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3×3 Tic-Tac-Toe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squares • 8 winning lines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9304" y="2459736"/>
            <a:ext cx="598932" cy="598932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247802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244" dirty="0"/>
          </a:p>
        </p:txBody>
      </p:sp>
      <p:sp>
        <p:nvSpPr>
          <p:cNvPr id="12" name="Shape 10"/>
          <p:cNvSpPr/>
          <p:nvPr/>
        </p:nvSpPr>
        <p:spPr>
          <a:xfrm>
            <a:off x="1911096" y="2459736"/>
            <a:ext cx="598932" cy="598932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47672" y="247802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44" dirty="0"/>
          </a:p>
        </p:txBody>
      </p:sp>
      <p:sp>
        <p:nvSpPr>
          <p:cNvPr id="14" name="Shape 12"/>
          <p:cNvSpPr/>
          <p:nvPr/>
        </p:nvSpPr>
        <p:spPr>
          <a:xfrm>
            <a:off x="2532888" y="2459736"/>
            <a:ext cx="598932" cy="598932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9464" y="2478024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244" dirty="0"/>
          </a:p>
        </p:txBody>
      </p:sp>
      <p:sp>
        <p:nvSpPr>
          <p:cNvPr id="16" name="Shape 14"/>
          <p:cNvSpPr/>
          <p:nvPr/>
        </p:nvSpPr>
        <p:spPr>
          <a:xfrm>
            <a:off x="1289304" y="3081528"/>
            <a:ext cx="598932" cy="598932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5880" y="30998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44" dirty="0"/>
          </a:p>
        </p:txBody>
      </p:sp>
      <p:sp>
        <p:nvSpPr>
          <p:cNvPr id="18" name="Shape 16"/>
          <p:cNvSpPr/>
          <p:nvPr/>
        </p:nvSpPr>
        <p:spPr>
          <a:xfrm>
            <a:off x="1911096" y="3081528"/>
            <a:ext cx="598932" cy="598932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47672" y="30998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244" dirty="0"/>
          </a:p>
        </p:txBody>
      </p:sp>
      <p:sp>
        <p:nvSpPr>
          <p:cNvPr id="20" name="Shape 18"/>
          <p:cNvSpPr/>
          <p:nvPr/>
        </p:nvSpPr>
        <p:spPr>
          <a:xfrm>
            <a:off x="2532888" y="3081528"/>
            <a:ext cx="598932" cy="598932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9464" y="3099816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44" dirty="0"/>
          </a:p>
        </p:txBody>
      </p:sp>
      <p:sp>
        <p:nvSpPr>
          <p:cNvPr id="22" name="Shape 20"/>
          <p:cNvSpPr/>
          <p:nvPr/>
        </p:nvSpPr>
        <p:spPr>
          <a:xfrm>
            <a:off x="1289304" y="3703320"/>
            <a:ext cx="598932" cy="598932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37216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44" dirty="0"/>
          </a:p>
        </p:txBody>
      </p:sp>
      <p:sp>
        <p:nvSpPr>
          <p:cNvPr id="24" name="Shape 22"/>
          <p:cNvSpPr/>
          <p:nvPr/>
        </p:nvSpPr>
        <p:spPr>
          <a:xfrm>
            <a:off x="1911096" y="3703320"/>
            <a:ext cx="598932" cy="598932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47672" y="37216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2244" dirty="0"/>
          </a:p>
        </p:txBody>
      </p:sp>
      <p:sp>
        <p:nvSpPr>
          <p:cNvPr id="26" name="Shape 24"/>
          <p:cNvSpPr/>
          <p:nvPr/>
        </p:nvSpPr>
        <p:spPr>
          <a:xfrm>
            <a:off x="2532888" y="3703320"/>
            <a:ext cx="598932" cy="598932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9464" y="3721608"/>
            <a:ext cx="548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44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2244" dirty="0"/>
          </a:p>
        </p:txBody>
      </p:sp>
      <p:sp>
        <p:nvSpPr>
          <p:cNvPr id="28" name="Text 26"/>
          <p:cNvSpPr/>
          <p:nvPr/>
        </p:nvSpPr>
        <p:spPr>
          <a:xfrm>
            <a:off x="795528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 result: draw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5528" y="496519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Elementary analysis; ancient game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26280" y="1435608"/>
            <a:ext cx="3182112" cy="4434840"/>
          </a:xfrm>
          <a:prstGeom prst="roundRect">
            <a:avLst>
              <a:gd name="adj" fmla="val 3736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16367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4×4 Four-in-a-Row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00016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squares • 10 winning lines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93792" y="2459736"/>
            <a:ext cx="443484" cy="44348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24780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3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683" dirty="0"/>
          </a:p>
        </p:txBody>
      </p:sp>
      <p:sp>
        <p:nvSpPr>
          <p:cNvPr id="35" name="Shape 33"/>
          <p:cNvSpPr/>
          <p:nvPr/>
        </p:nvSpPr>
        <p:spPr>
          <a:xfrm>
            <a:off x="5660136" y="2459736"/>
            <a:ext cx="443484" cy="44348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96712" y="2478024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3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683" dirty="0"/>
          </a:p>
        </p:txBody>
      </p:sp>
      <p:sp>
        <p:nvSpPr>
          <p:cNvPr id="37" name="Shape 35"/>
          <p:cNvSpPr/>
          <p:nvPr/>
        </p:nvSpPr>
        <p:spPr>
          <a:xfrm>
            <a:off x="6126480" y="2459736"/>
            <a:ext cx="443484" cy="44348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92824" y="2459736"/>
            <a:ext cx="443484" cy="44348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93792" y="2926080"/>
            <a:ext cx="443484" cy="44348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30368" y="294436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3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683" dirty="0"/>
          </a:p>
        </p:txBody>
      </p:sp>
      <p:sp>
        <p:nvSpPr>
          <p:cNvPr id="41" name="Shape 39"/>
          <p:cNvSpPr/>
          <p:nvPr/>
        </p:nvSpPr>
        <p:spPr>
          <a:xfrm>
            <a:off x="5660136" y="2926080"/>
            <a:ext cx="443484" cy="44348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96712" y="2944368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3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683" dirty="0"/>
          </a:p>
        </p:txBody>
      </p:sp>
      <p:sp>
        <p:nvSpPr>
          <p:cNvPr id="43" name="Shape 41"/>
          <p:cNvSpPr/>
          <p:nvPr/>
        </p:nvSpPr>
        <p:spPr>
          <a:xfrm>
            <a:off x="6126480" y="2926080"/>
            <a:ext cx="443484" cy="44348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92824" y="2926080"/>
            <a:ext cx="443484" cy="44348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93792" y="3392424"/>
            <a:ext cx="443484" cy="44348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60136" y="3392424"/>
            <a:ext cx="443484" cy="44348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3392424"/>
            <a:ext cx="443484" cy="44348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63056" y="3410712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3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</a:t>
            </a:r>
            <a:endParaRPr lang="en-US" sz="1683" dirty="0"/>
          </a:p>
        </p:txBody>
      </p:sp>
      <p:sp>
        <p:nvSpPr>
          <p:cNvPr id="49" name="Shape 47"/>
          <p:cNvSpPr/>
          <p:nvPr/>
        </p:nvSpPr>
        <p:spPr>
          <a:xfrm>
            <a:off x="6592824" y="3392424"/>
            <a:ext cx="443484" cy="44348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93792" y="3858768"/>
            <a:ext cx="443484" cy="44348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60136" y="3858768"/>
            <a:ext cx="443484" cy="44348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3858768"/>
            <a:ext cx="443484" cy="443484"/>
          </a:xfrm>
          <a:prstGeom prst="rect">
            <a:avLst/>
          </a:prstGeom>
          <a:solidFill>
            <a:srgbClr val="26374B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92824" y="3858768"/>
            <a:ext cx="443484" cy="443484"/>
          </a:xfrm>
          <a:prstGeom prst="rect">
            <a:avLst/>
          </a:prstGeom>
          <a:solidFill>
            <a:srgbClr val="32455A"/>
          </a:solidFill>
          <a:ln w="6350">
            <a:solidFill>
              <a:srgbClr val="52667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29400" y="3877056"/>
            <a:ext cx="393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83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683" dirty="0"/>
          </a:p>
        </p:txBody>
      </p:sp>
      <p:sp>
        <p:nvSpPr>
          <p:cNvPr id="55" name="Text 53"/>
          <p:cNvSpPr/>
          <p:nvPr/>
        </p:nvSpPr>
        <p:spPr>
          <a:xfrm>
            <a:off x="4700016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Optimal result: draw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700016" y="496519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Non-search proof: J. Uiterwijk (2017/18)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421624" y="1435608"/>
            <a:ext cx="3182112" cy="4434840"/>
          </a:xfrm>
          <a:prstGeom prst="roundRect">
            <a:avLst>
              <a:gd name="adj" fmla="val 3736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595360" y="163677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4×4×4 Qubic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859536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 cells • 76 winning lines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637776" y="2478024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85248" y="2478024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332720" y="2478024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80192" y="2478024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37776" y="2825496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85248" y="2825496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332720" y="2825496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80192" y="2825496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637776" y="3172968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85248" y="3172968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32720" y="3172968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80192" y="3172968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37776" y="3520440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985248" y="3520440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332720" y="3520440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680192" y="3520440"/>
            <a:ext cx="310896" cy="310896"/>
          </a:xfrm>
          <a:prstGeom prst="rect">
            <a:avLst/>
          </a:prstGeom>
          <a:solidFill>
            <a:srgbClr val="334D68">
              <a:alpha val="61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454896" y="2642616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02368" y="2642616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149840" y="2642616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497312" y="2642616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454896" y="2990088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02368" y="2990088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149840" y="2990088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497312" y="2990088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454896" y="3337560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802368" y="3337560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149840" y="3337560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497312" y="3337560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454896" y="3685032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802368" y="3685032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149840" y="3685032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497312" y="3685032"/>
            <a:ext cx="310896" cy="310896"/>
          </a:xfrm>
          <a:prstGeom prst="rect">
            <a:avLst/>
          </a:prstGeom>
          <a:solidFill>
            <a:srgbClr val="334D68">
              <a:alpha val="74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272016" y="2807208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619488" y="2807208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966960" y="2807208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314432" y="2807208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72016" y="3154680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619488" y="3154680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966960" y="3154680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314432" y="3154680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72016" y="3502152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19488" y="3502152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966960" y="3502152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314432" y="3502152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272016" y="3849624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619488" y="3849624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9966960" y="3849624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314432" y="3849624"/>
            <a:ext cx="310896" cy="310896"/>
          </a:xfrm>
          <a:prstGeom prst="rect">
            <a:avLst/>
          </a:prstGeom>
          <a:solidFill>
            <a:srgbClr val="334D68">
              <a:alpha val="87000"/>
            </a:srgbClr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089136" y="2971800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9436608" y="2971800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9784080" y="2971800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131552" y="2971800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9089136" y="3319272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9436608" y="3319272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9784080" y="3319272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131552" y="3319272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9089136" y="3666744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9436608" y="3666744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9784080" y="3666744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0131552" y="3666744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9089136" y="4014216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436608" y="4014216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84080" y="4014216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0131552" y="4014216"/>
            <a:ext cx="310896" cy="310896"/>
          </a:xfrm>
          <a:prstGeom prst="rect">
            <a:avLst/>
          </a:prstGeom>
          <a:solidFill>
            <a:srgbClr val="334D68"/>
          </a:solidFill>
          <a:ln w="5080">
            <a:solidFill>
              <a:srgbClr val="9EB6D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595360" y="4526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player can force a win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8595360" y="4965192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O. Patashnik (1980); K. Thompson verified</a:t>
            </a:r>
            <a:endParaRPr lang="en-US" sz="1200" dirty="0"/>
          </a:p>
        </p:txBody>
      </p:sp>
      <p:sp>
        <p:nvSpPr>
          <p:cNvPr id="126" name="Text 124"/>
          <p:cNvSpPr/>
          <p:nvPr/>
        </p:nvSpPr>
        <p:spPr>
          <a:xfrm>
            <a:off x="658368" y="6007608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State-space upper bounds: 3⁹ ≈ 2×10⁴  •  3¹⁶ ≈ 4×10⁷  •  3⁶⁴ ≈ 3×10³⁰</a:t>
            </a:r>
            <a:endParaRPr lang="en-US" sz="1500" dirty="0"/>
          </a:p>
        </p:txBody>
      </p:sp>
      <p:sp>
        <p:nvSpPr>
          <p:cNvPr id="127" name="Text 125"/>
          <p:cNvSpPr/>
          <p:nvPr/>
        </p:nvSpPr>
        <p:spPr>
          <a:xfrm>
            <a:off x="658368" y="6318504"/>
            <a:ext cx="109270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Qubic: ~1,500 computer hours (1970s); Thompson independently checked Patashnik’s proof (~50 hours).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THURSDAY HANDOFF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Status, research questions,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6464808"/>
            <a:ext cx="11155680" cy="0"/>
          </a:xfrm>
          <a:prstGeom prst="line">
            <a:avLst/>
          </a:prstGeom>
          <a:noFill/>
          <a:ln w="12700">
            <a:solidFill>
              <a:srgbClr val="3446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28816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UCSC • Augmented Design Lab  |  October 15,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01400" y="65288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B9C7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21792" y="1472184"/>
            <a:ext cx="5330952" cy="4407408"/>
          </a:xfrm>
          <a:prstGeom prst="roundRect">
            <a:avLst>
              <a:gd name="adj" fmla="val 2697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99632" y="1472184"/>
            <a:ext cx="5330952" cy="4407408"/>
          </a:xfrm>
          <a:prstGeom prst="roundRect">
            <a:avLst>
              <a:gd name="adj" fmla="val 2697"/>
            </a:avLst>
          </a:prstGeom>
          <a:solidFill>
            <a:srgbClr val="1C293C"/>
          </a:solidFill>
          <a:ln w="12700">
            <a:solidFill>
              <a:srgbClr val="1C29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1051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NOW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2441448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53312" y="2459736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4×4 game compiles and loads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3118104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53312" y="3136392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moves and winning condition tested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3794760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53312" y="3813048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vs AI played; trial saved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2688" y="4471416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5BD6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53312" y="4489704"/>
            <a:ext cx="4242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Standalone demo available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181051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RESEARCH STEPS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19672" y="2441448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31152" y="2459736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teammate-generated games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9672" y="3118104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931152" y="313639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LLM critique and revision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9672" y="3794760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31152" y="3813048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and filter candidate games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9672" y="4471416"/>
            <a:ext cx="2926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8C7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31152" y="4489704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game metrics and skill growth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31520" y="6117336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question: Can measurable game properties predict enduring strategic interest?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in Large Spaces Without a Utility Function</dc:title>
  <dc:subject>Search in Large Spaces — Ludii Demo</dc:subject>
  <dc:creator>UCSC Augmented Design Lab</dc:creator>
  <cp:lastModifiedBy>UCSC Augmented Design Lab</cp:lastModifiedBy>
  <cp:revision>1</cp:revision>
  <dcterms:created xsi:type="dcterms:W3CDTF">2026-10-15T01:24:42Z</dcterms:created>
  <dcterms:modified xsi:type="dcterms:W3CDTF">2026-10-15T01:24:42Z</dcterms:modified>
</cp:coreProperties>
</file>